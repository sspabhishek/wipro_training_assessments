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0188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7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72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1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47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4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7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7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2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54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39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74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42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9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85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8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6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584924" cy="1578428"/>
          </a:xfrm>
        </p:spPr>
        <p:txBody>
          <a:bodyPr/>
          <a:lstStyle/>
          <a:p>
            <a:r>
              <a:rPr b="1" dirty="0"/>
              <a:t>RDBMS and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05001"/>
            <a:ext cx="7704667" cy="4094816"/>
          </a:xfrm>
        </p:spPr>
        <p:txBody>
          <a:bodyPr/>
          <a:lstStyle/>
          <a:p>
            <a:pPr marL="0" indent="0">
              <a:buNone/>
            </a:pPr>
            <a:r>
              <a:rPr b="1" dirty="0"/>
              <a:t>Topic</a:t>
            </a:r>
            <a:r>
              <a:rPr lang="en-US" b="1" dirty="0"/>
              <a:t>s</a:t>
            </a:r>
            <a:r>
              <a:rPr b="1" dirty="0"/>
              <a:t> </a:t>
            </a:r>
            <a:endParaRPr lang="en-US" b="1" dirty="0"/>
          </a:p>
          <a:p>
            <a:pPr lvl="1"/>
            <a:r>
              <a:rPr dirty="0"/>
              <a:t>Relational Database Management System </a:t>
            </a:r>
            <a:endParaRPr lang="en-US" dirty="0"/>
          </a:p>
          <a:p>
            <a:pPr lvl="1"/>
            <a:r>
              <a:rPr dirty="0"/>
              <a:t> CRUD Operations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IN" dirty="0"/>
              <a:t>							</a:t>
            </a:r>
            <a:r>
              <a:rPr lang="en-IN" b="1" dirty="0"/>
              <a:t>Presented by: Abhishek Kumar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23999"/>
          </a:xfrm>
        </p:spPr>
        <p:txBody>
          <a:bodyPr/>
          <a:lstStyle/>
          <a:p>
            <a:r>
              <a:rPr b="1" dirty="0"/>
              <a:t>What is a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66" y="2916229"/>
            <a:ext cx="4362752" cy="1589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b="1" dirty="0"/>
              <a:t>Examples</a:t>
            </a:r>
            <a:r>
              <a:rPr lang="en-US" b="1" dirty="0"/>
              <a:t>:</a:t>
            </a:r>
            <a:endParaRPr dirty="0"/>
          </a:p>
          <a:p>
            <a:pPr lvl="1"/>
            <a:r>
              <a:rPr sz="1900" dirty="0"/>
              <a:t>Student records</a:t>
            </a:r>
          </a:p>
          <a:p>
            <a:pPr lvl="1"/>
            <a:r>
              <a:rPr sz="1900" dirty="0"/>
              <a:t>Customer details</a:t>
            </a:r>
          </a:p>
          <a:p>
            <a:pPr lvl="1"/>
            <a:r>
              <a:rPr sz="1900" dirty="0"/>
              <a:t>Banking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CA257-D5EE-9FAA-4E48-3D6AF8F38437}"/>
              </a:ext>
            </a:extLst>
          </p:cNvPr>
          <p:cNvSpPr txBox="1"/>
          <p:nvPr/>
        </p:nvSpPr>
        <p:spPr>
          <a:xfrm>
            <a:off x="795866" y="1981200"/>
            <a:ext cx="7552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database</a:t>
            </a:r>
            <a:r>
              <a:rPr lang="en-US" sz="2400" dirty="0"/>
              <a:t> is an organized collection of data that is stored electronically and accessed easily.</a:t>
            </a:r>
            <a:endParaRPr lang="en-IN" sz="2400" dirty="0"/>
          </a:p>
        </p:txBody>
      </p:sp>
      <p:pic>
        <p:nvPicPr>
          <p:cNvPr id="1026" name="Picture 2" descr="What Are Vector Databases? Why They Are ...">
            <a:extLst>
              <a:ext uri="{FF2B5EF4-FFF2-40B4-BE49-F238E27FC236}">
                <a16:creationId xmlns:a16="http://schemas.microsoft.com/office/drawing/2014/main" id="{A98B2691-A861-5726-DDB0-A3980A111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887" y="3069772"/>
            <a:ext cx="3059913" cy="299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B88EC2-80FE-4016-8024-5327D50FA73A}"/>
              </a:ext>
            </a:extLst>
          </p:cNvPr>
          <p:cNvSpPr txBox="1"/>
          <p:nvPr/>
        </p:nvSpPr>
        <p:spPr>
          <a:xfrm>
            <a:off x="795866" y="4566029"/>
            <a:ext cx="478115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/>
              <a:t>Why we need a database?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store large amounts of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retrieve data quickly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maintain data securely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RDBMS?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229" y="1937657"/>
            <a:ext cx="7946571" cy="4354286"/>
          </a:xfrm>
        </p:spPr>
        <p:txBody>
          <a:bodyPr>
            <a:normAutofit/>
          </a:bodyPr>
          <a:lstStyle/>
          <a:p>
            <a:r>
              <a:rPr dirty="0"/>
              <a:t>RDBMS stands for Relational Database Management System</a:t>
            </a:r>
          </a:p>
          <a:p>
            <a:r>
              <a:rPr lang="en-US" dirty="0"/>
              <a:t>An RDBMS stores data in the form of </a:t>
            </a:r>
            <a:r>
              <a:rPr lang="en-US" b="1" dirty="0"/>
              <a:t>tables (relations)</a:t>
            </a:r>
            <a:r>
              <a:rPr lang="en-US" dirty="0"/>
              <a:t> with rows and columns.</a:t>
            </a: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lvl="1"/>
            <a:r>
              <a:rPr dirty="0"/>
              <a:t>MySQL</a:t>
            </a:r>
          </a:p>
          <a:p>
            <a:pPr lvl="1"/>
            <a:r>
              <a:rPr dirty="0"/>
              <a:t>Oracle</a:t>
            </a:r>
          </a:p>
          <a:p>
            <a:pPr lvl="1"/>
            <a:r>
              <a:rPr dirty="0"/>
              <a:t>PostgreSQL</a:t>
            </a:r>
          </a:p>
          <a:p>
            <a:pPr lvl="1"/>
            <a:r>
              <a:rPr dirty="0"/>
              <a:t>SQL Server</a:t>
            </a:r>
          </a:p>
        </p:txBody>
      </p:sp>
      <p:pic>
        <p:nvPicPr>
          <p:cNvPr id="2050" name="Picture 2" descr="Relational Database Management Systems ...">
            <a:extLst>
              <a:ext uri="{FF2B5EF4-FFF2-40B4-BE49-F238E27FC236}">
                <a16:creationId xmlns:a16="http://schemas.microsoft.com/office/drawing/2014/main" id="{DE018DEE-BD17-9FA4-F4A1-AAEF19D55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971" y="3918857"/>
            <a:ext cx="46228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836206" cy="1262742"/>
          </a:xfrm>
        </p:spPr>
        <p:txBody>
          <a:bodyPr/>
          <a:lstStyle/>
          <a:p>
            <a:r>
              <a:rPr b="1" dirty="0"/>
              <a:t>Structure of 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56016"/>
            <a:ext cx="5700487" cy="1611084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sz="5100" b="1" dirty="0"/>
              <a:t>Keys:</a:t>
            </a:r>
          </a:p>
          <a:p>
            <a:pPr lvl="1"/>
            <a:r>
              <a:rPr sz="3800" dirty="0"/>
              <a:t> </a:t>
            </a:r>
            <a:r>
              <a:rPr sz="3800" b="1" dirty="0"/>
              <a:t>Primary Key</a:t>
            </a:r>
            <a:r>
              <a:rPr lang="en-US" sz="3800" b="1" dirty="0"/>
              <a:t> </a:t>
            </a:r>
            <a:r>
              <a:rPr lang="en-US" sz="3800" dirty="0"/>
              <a:t>: </a:t>
            </a:r>
            <a:r>
              <a:rPr lang="en-IN" sz="3800" dirty="0"/>
              <a:t>Uniquely identifies a record</a:t>
            </a:r>
            <a:endParaRPr sz="3800" dirty="0"/>
          </a:p>
          <a:p>
            <a:pPr lvl="1"/>
            <a:r>
              <a:rPr sz="3800" b="1" dirty="0"/>
              <a:t>Foreign Key</a:t>
            </a:r>
            <a:r>
              <a:rPr lang="en-US" sz="3800" b="1" dirty="0"/>
              <a:t> </a:t>
            </a:r>
            <a:r>
              <a:rPr lang="en-US" sz="3800" dirty="0"/>
              <a:t>: </a:t>
            </a:r>
            <a:r>
              <a:rPr lang="en-IN" sz="3800" dirty="0"/>
              <a:t>Creates relation between tables</a:t>
            </a:r>
            <a:endParaRPr sz="3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BA030-60BF-D941-A458-0CF7BD2E622D}"/>
              </a:ext>
            </a:extLst>
          </p:cNvPr>
          <p:cNvSpPr txBox="1"/>
          <p:nvPr/>
        </p:nvSpPr>
        <p:spPr>
          <a:xfrm>
            <a:off x="982133" y="1661733"/>
            <a:ext cx="5875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Tables contain rows and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Rows represent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Columns represent attributes</a:t>
            </a:r>
          </a:p>
        </p:txBody>
      </p:sp>
      <p:pic>
        <p:nvPicPr>
          <p:cNvPr id="3078" name="Picture 6" descr="Keys in Relational Model - GeeksforGeeks">
            <a:extLst>
              <a:ext uri="{FF2B5EF4-FFF2-40B4-BE49-F238E27FC236}">
                <a16:creationId xmlns:a16="http://schemas.microsoft.com/office/drawing/2014/main" id="{D18161DB-1C45-32E5-8193-997ABFE76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233" y="4180620"/>
            <a:ext cx="4791534" cy="239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45770"/>
          </a:xfrm>
        </p:spPr>
        <p:txBody>
          <a:bodyPr/>
          <a:lstStyle/>
          <a:p>
            <a:r>
              <a:rPr b="1" dirty="0"/>
              <a:t>Advantages of 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047" y="1894114"/>
            <a:ext cx="8248953" cy="4201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Data consistency</a:t>
            </a:r>
          </a:p>
          <a:p>
            <a:pPr marL="0" indent="0">
              <a:buNone/>
            </a:pPr>
            <a:r>
              <a:rPr sz="2800" dirty="0"/>
              <a:t>• Reduced redundancy</a:t>
            </a:r>
          </a:p>
          <a:p>
            <a:pPr marL="0" indent="0">
              <a:buNone/>
            </a:pPr>
            <a:r>
              <a:rPr sz="2800" dirty="0"/>
              <a:t>• Data security</a:t>
            </a:r>
          </a:p>
          <a:p>
            <a:pPr marL="0" indent="0">
              <a:buNone/>
            </a:pPr>
            <a:r>
              <a:rPr sz="2800" dirty="0"/>
              <a:t>• Easy retrieval using SQL</a:t>
            </a:r>
          </a:p>
          <a:p>
            <a:pPr marL="0" indent="0">
              <a:buNone/>
            </a:pPr>
            <a:r>
              <a:rPr sz="2800" dirty="0"/>
              <a:t>• Supports table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595810" cy="1328057"/>
          </a:xfrm>
        </p:spPr>
        <p:txBody>
          <a:bodyPr>
            <a:normAutofit/>
          </a:bodyPr>
          <a:lstStyle/>
          <a:p>
            <a:r>
              <a:rPr sz="4400" b="1" dirty="0"/>
              <a:t>What is CRUD?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276" y="1611086"/>
            <a:ext cx="7288589" cy="11042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sz="3100" dirty="0"/>
              <a:t>CRUD represents basic database operations: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098" name="Picture 2" descr="CRUD Operations in Web Applications ...">
            <a:extLst>
              <a:ext uri="{FF2B5EF4-FFF2-40B4-BE49-F238E27FC236}">
                <a16:creationId xmlns:a16="http://schemas.microsoft.com/office/drawing/2014/main" id="{ED8DE057-5542-206C-674B-8B7AF6463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71" y="2715305"/>
            <a:ext cx="4713515" cy="3627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951C1D-2740-B617-64B5-DA51B5AAEE81}"/>
              </a:ext>
            </a:extLst>
          </p:cNvPr>
          <p:cNvSpPr txBox="1"/>
          <p:nvPr/>
        </p:nvSpPr>
        <p:spPr>
          <a:xfrm>
            <a:off x="740227" y="3166293"/>
            <a:ext cx="4680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 –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Create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 –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 –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 –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71598"/>
          </a:xfrm>
        </p:spPr>
        <p:txBody>
          <a:bodyPr/>
          <a:lstStyle/>
          <a:p>
            <a:r>
              <a:rPr b="1" dirty="0"/>
              <a:t>CREATE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973" y="1828799"/>
            <a:ext cx="8175170" cy="1981201"/>
          </a:xfrm>
        </p:spPr>
        <p:txBody>
          <a:bodyPr>
            <a:normAutofit/>
          </a:bodyPr>
          <a:lstStyle/>
          <a:p>
            <a:r>
              <a:rPr dirty="0"/>
              <a:t>Used to insert new data into a table</a:t>
            </a:r>
          </a:p>
          <a:p>
            <a:pPr marL="0" indent="0">
              <a:buNone/>
            </a:pPr>
            <a:r>
              <a:rPr b="1" dirty="0"/>
              <a:t>Use Case: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+mj-lt"/>
              </a:rPr>
              <a:t>New user registration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+mj-lt"/>
              </a:rPr>
              <a:t>Adding a new product</a:t>
            </a:r>
            <a:endParaRPr sz="32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B8279-8175-093A-30DD-869025878507}"/>
              </a:ext>
            </a:extLst>
          </p:cNvPr>
          <p:cNvSpPr txBox="1"/>
          <p:nvPr/>
        </p:nvSpPr>
        <p:spPr>
          <a:xfrm>
            <a:off x="859973" y="384081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SQL 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F74E8-1228-299B-E726-E562D250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90" y="4429009"/>
            <a:ext cx="7744906" cy="165758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FAA0AC0-80DD-5C27-8AED-A3E1BDE8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530495" cy="1371599"/>
          </a:xfrm>
        </p:spPr>
        <p:txBody>
          <a:bodyPr/>
          <a:lstStyle/>
          <a:p>
            <a:r>
              <a:rPr b="1" dirty="0"/>
              <a:t>READ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961" y="2057400"/>
            <a:ext cx="7704667" cy="2253343"/>
          </a:xfrm>
        </p:spPr>
        <p:txBody>
          <a:bodyPr>
            <a:normAutofit/>
          </a:bodyPr>
          <a:lstStyle/>
          <a:p>
            <a:r>
              <a:rPr dirty="0"/>
              <a:t>Used to retrieve data from database</a:t>
            </a:r>
          </a:p>
          <a:p>
            <a:pPr marL="0" indent="0">
              <a:buNone/>
            </a:pPr>
            <a:r>
              <a:rPr b="1" dirty="0"/>
              <a:t>Use Case:</a:t>
            </a:r>
          </a:p>
          <a:p>
            <a:pPr lvl="1"/>
            <a:r>
              <a:rPr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Viewing profile details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Displaying product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0E608-8E26-F17D-72B9-C0A560152708}"/>
              </a:ext>
            </a:extLst>
          </p:cNvPr>
          <p:cNvSpPr txBox="1"/>
          <p:nvPr/>
        </p:nvSpPr>
        <p:spPr>
          <a:xfrm>
            <a:off x="729343" y="4343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SQL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0C332-147E-F86D-AA0B-C43DC6DD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634" y="4805065"/>
            <a:ext cx="6295193" cy="14431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17170"/>
          </a:xfrm>
        </p:spPr>
        <p:txBody>
          <a:bodyPr/>
          <a:lstStyle/>
          <a:p>
            <a:r>
              <a:rPr b="1" dirty="0"/>
              <a:t>UPDATE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294" y="1687283"/>
            <a:ext cx="7968343" cy="2481946"/>
          </a:xfrm>
        </p:spPr>
        <p:txBody>
          <a:bodyPr>
            <a:normAutofit/>
          </a:bodyPr>
          <a:lstStyle/>
          <a:p>
            <a:r>
              <a:rPr lang="en-IN" dirty="0"/>
              <a:t>U</a:t>
            </a:r>
            <a:r>
              <a:rPr dirty="0"/>
              <a:t>sed to modify existing data</a:t>
            </a:r>
          </a:p>
          <a:p>
            <a:pPr marL="0" indent="0">
              <a:buNone/>
            </a:pPr>
            <a:r>
              <a:rPr b="1" dirty="0"/>
              <a:t>Use Case:</a:t>
            </a:r>
            <a:endParaRPr lang="en-IN" b="1" dirty="0"/>
          </a:p>
          <a:p>
            <a:pPr lvl="1"/>
            <a:r>
              <a:rPr lang="en-IN" dirty="0"/>
              <a:t>Updating profile </a:t>
            </a:r>
            <a:r>
              <a:rPr lang="en-IN" altLang="en-US" dirty="0">
                <a:latin typeface="Arial" panose="020B0604020202020204" pitchFamily="34" charset="0"/>
              </a:rPr>
              <a:t>information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Changing order status</a:t>
            </a:r>
          </a:p>
          <a:p>
            <a:pPr lvl="1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2A5E6-6582-47A7-4A1B-F01D7C2B1395}"/>
              </a:ext>
            </a:extLst>
          </p:cNvPr>
          <p:cNvSpPr txBox="1"/>
          <p:nvPr/>
        </p:nvSpPr>
        <p:spPr>
          <a:xfrm>
            <a:off x="850294" y="39383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SQL Example: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251D31-EA85-BA89-7BD0-9158F90CA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D0736E-F9A8-63C5-66B1-717E8034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62" y="4486423"/>
            <a:ext cx="5906768" cy="2008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457201"/>
            <a:ext cx="7584924" cy="1589313"/>
          </a:xfrm>
        </p:spPr>
        <p:txBody>
          <a:bodyPr/>
          <a:lstStyle/>
          <a:p>
            <a:r>
              <a:rPr b="1" dirty="0"/>
              <a:t>DELETE Operation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537" y="1807029"/>
            <a:ext cx="7584925" cy="2481943"/>
          </a:xfrm>
        </p:spPr>
        <p:txBody>
          <a:bodyPr>
            <a:normAutofit/>
          </a:bodyPr>
          <a:lstStyle/>
          <a:p>
            <a:r>
              <a:rPr dirty="0"/>
              <a:t>Used to remove data from table</a:t>
            </a:r>
          </a:p>
          <a:p>
            <a:pPr marL="0" indent="0">
              <a:buNone/>
            </a:pPr>
            <a:r>
              <a:rPr lang="en-US" b="1" dirty="0"/>
              <a:t>Use Case:</a:t>
            </a:r>
          </a:p>
          <a:p>
            <a:pPr lvl="1"/>
            <a:r>
              <a:rPr lang="en-US" dirty="0"/>
              <a:t>Deleting inactive users</a:t>
            </a:r>
          </a:p>
          <a:p>
            <a:pPr lvl="1"/>
            <a:r>
              <a:rPr lang="en-US" dirty="0"/>
              <a:t>Removing cancelled orders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D4089-C62E-CB55-D2E7-E9EDF4731391}"/>
              </a:ext>
            </a:extLst>
          </p:cNvPr>
          <p:cNvSpPr txBox="1"/>
          <p:nvPr/>
        </p:nvSpPr>
        <p:spPr>
          <a:xfrm>
            <a:off x="779537" y="3919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SQL 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EEB1C-2A2F-5859-7892-68E1DE6F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40" y="4695043"/>
            <a:ext cx="5744377" cy="1467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1E1F7-AC0F-B5D7-8F4E-E54CB26C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457201"/>
            <a:ext cx="7924801" cy="5976256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410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41</TotalTime>
  <Words>271</Words>
  <Application>Microsoft Office PowerPoint</Application>
  <PresentationFormat>On-screen Show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Algerian</vt:lpstr>
      <vt:lpstr>Arial</vt:lpstr>
      <vt:lpstr>Corbel</vt:lpstr>
      <vt:lpstr>Parallax</vt:lpstr>
      <vt:lpstr>RDBMS and CRUD Operations</vt:lpstr>
      <vt:lpstr>What is a Database?</vt:lpstr>
      <vt:lpstr>What is RDBMS?</vt:lpstr>
      <vt:lpstr>Structure of RDBMS</vt:lpstr>
      <vt:lpstr>Advantages of RDBMS</vt:lpstr>
      <vt:lpstr>What is CRUD?</vt:lpstr>
      <vt:lpstr>CREATE Operation</vt:lpstr>
      <vt:lpstr>READ Operation</vt:lpstr>
      <vt:lpstr>UPDATE Operation</vt:lpstr>
      <vt:lpstr>DELETE Operation &amp;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Kumar</cp:lastModifiedBy>
  <cp:revision>2</cp:revision>
  <dcterms:created xsi:type="dcterms:W3CDTF">2013-01-27T09:14:16Z</dcterms:created>
  <dcterms:modified xsi:type="dcterms:W3CDTF">2025-12-18T12:26:54Z</dcterms:modified>
  <cp:category/>
</cp:coreProperties>
</file>